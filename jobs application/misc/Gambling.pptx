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7" d="100"/>
          <a:sy n="77" d="100"/>
        </p:scale>
        <p:origin x="77" y="2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3013ED-A1ED-45AD-AA87-7D12375A93B7}"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4144F2ED-F742-4E06-9322-783F432F8CC9}">
      <dgm:prSet/>
      <dgm:spPr/>
      <dgm:t>
        <a:bodyPr/>
        <a:lstStyle/>
        <a:p>
          <a:r>
            <a:rPr lang="en-US" b="0" i="0"/>
            <a:t>if; one is spending too much money on it, </a:t>
          </a:r>
          <a:endParaRPr lang="en-US"/>
        </a:p>
      </dgm:t>
    </dgm:pt>
    <dgm:pt modelId="{4A3B7254-E56A-4874-897C-08CFCF6522CA}" type="parTrans" cxnId="{D2538EB0-FD39-44ED-9E54-D19E83B36EEA}">
      <dgm:prSet/>
      <dgm:spPr/>
      <dgm:t>
        <a:bodyPr/>
        <a:lstStyle/>
        <a:p>
          <a:endParaRPr lang="en-US"/>
        </a:p>
      </dgm:t>
    </dgm:pt>
    <dgm:pt modelId="{4C121F97-3F9A-4237-8A5B-B8B199AEE026}" type="sibTrans" cxnId="{D2538EB0-FD39-44ED-9E54-D19E83B36EEA}">
      <dgm:prSet/>
      <dgm:spPr/>
      <dgm:t>
        <a:bodyPr/>
        <a:lstStyle/>
        <a:p>
          <a:endParaRPr lang="en-US"/>
        </a:p>
      </dgm:t>
    </dgm:pt>
    <dgm:pt modelId="{E0E1AD51-2358-4604-9F9B-A5206DDD641A}">
      <dgm:prSet/>
      <dgm:spPr/>
      <dgm:t>
        <a:bodyPr/>
        <a:lstStyle/>
        <a:p>
          <a:r>
            <a:rPr lang="en-US" b="0" i="0"/>
            <a:t>until it is all they think about, </a:t>
          </a:r>
          <a:endParaRPr lang="en-US"/>
        </a:p>
      </dgm:t>
    </dgm:pt>
    <dgm:pt modelId="{66180786-61A3-42B8-B66D-85069151D7D7}" type="parTrans" cxnId="{0DD8053A-3482-44E2-947A-01A7D6982202}">
      <dgm:prSet/>
      <dgm:spPr/>
      <dgm:t>
        <a:bodyPr/>
        <a:lstStyle/>
        <a:p>
          <a:endParaRPr lang="en-US"/>
        </a:p>
      </dgm:t>
    </dgm:pt>
    <dgm:pt modelId="{CEC846A7-7E28-4672-A3AB-27AE5510F0D3}" type="sibTrans" cxnId="{0DD8053A-3482-44E2-947A-01A7D6982202}">
      <dgm:prSet/>
      <dgm:spPr/>
      <dgm:t>
        <a:bodyPr/>
        <a:lstStyle/>
        <a:p>
          <a:endParaRPr lang="en-US"/>
        </a:p>
      </dgm:t>
    </dgm:pt>
    <dgm:pt modelId="{26F20A22-F746-43EA-ABFC-CB80EBE743DD}">
      <dgm:prSet/>
      <dgm:spPr/>
      <dgm:t>
        <a:bodyPr/>
        <a:lstStyle/>
        <a:p>
          <a:r>
            <a:rPr lang="en-US" b="0" i="0"/>
            <a:t>they find themselves borrowing money to bet,</a:t>
          </a:r>
          <a:endParaRPr lang="en-US"/>
        </a:p>
      </dgm:t>
    </dgm:pt>
    <dgm:pt modelId="{9FE9270E-8B80-4772-A589-2869B496CB0C}" type="parTrans" cxnId="{60C8B93F-902D-4C0D-8592-B3B5DEFE666D}">
      <dgm:prSet/>
      <dgm:spPr/>
      <dgm:t>
        <a:bodyPr/>
        <a:lstStyle/>
        <a:p>
          <a:endParaRPr lang="en-US"/>
        </a:p>
      </dgm:t>
    </dgm:pt>
    <dgm:pt modelId="{B70C6A10-61E5-4F15-85EB-D39AB86E8DF9}" type="sibTrans" cxnId="{60C8B93F-902D-4C0D-8592-B3B5DEFE666D}">
      <dgm:prSet/>
      <dgm:spPr/>
      <dgm:t>
        <a:bodyPr/>
        <a:lstStyle/>
        <a:p>
          <a:endParaRPr lang="en-US"/>
        </a:p>
      </dgm:t>
    </dgm:pt>
    <dgm:pt modelId="{77EC396E-69E4-4F0D-991B-11496A1D6FEF}">
      <dgm:prSet/>
      <dgm:spPr/>
      <dgm:t>
        <a:bodyPr/>
        <a:lstStyle/>
        <a:p>
          <a:r>
            <a:rPr lang="en-US" b="0" i="0"/>
            <a:t>they get into financial difficulties, or </a:t>
          </a:r>
          <a:endParaRPr lang="en-US"/>
        </a:p>
      </dgm:t>
    </dgm:pt>
    <dgm:pt modelId="{CF8F6C00-35E5-4C06-BAD2-A7086D5EF42D}" type="parTrans" cxnId="{555A7EE1-1B48-4144-9EA9-D438F1653762}">
      <dgm:prSet/>
      <dgm:spPr/>
      <dgm:t>
        <a:bodyPr/>
        <a:lstStyle/>
        <a:p>
          <a:endParaRPr lang="en-US"/>
        </a:p>
      </dgm:t>
    </dgm:pt>
    <dgm:pt modelId="{D9C90FB0-90E3-40E4-A314-E0E99054E15D}" type="sibTrans" cxnId="{555A7EE1-1B48-4144-9EA9-D438F1653762}">
      <dgm:prSet/>
      <dgm:spPr/>
      <dgm:t>
        <a:bodyPr/>
        <a:lstStyle/>
        <a:p>
          <a:endParaRPr lang="en-US"/>
        </a:p>
      </dgm:t>
    </dgm:pt>
    <dgm:pt modelId="{255A35EE-D3D5-4EBF-A7E8-C33734ADA2A7}">
      <dgm:prSet/>
      <dgm:spPr/>
      <dgm:t>
        <a:bodyPr/>
        <a:lstStyle/>
        <a:p>
          <a:r>
            <a:rPr lang="en-US" b="0" i="0"/>
            <a:t>they think that all their financial problems can be solved by betting and scoring a large one</a:t>
          </a:r>
          <a:endParaRPr lang="en-US"/>
        </a:p>
      </dgm:t>
    </dgm:pt>
    <dgm:pt modelId="{03799F5A-095D-449D-A2B1-C8BD441A1C55}" type="parTrans" cxnId="{85B35784-932C-43DA-BEEE-C18428E12E59}">
      <dgm:prSet/>
      <dgm:spPr/>
      <dgm:t>
        <a:bodyPr/>
        <a:lstStyle/>
        <a:p>
          <a:endParaRPr lang="en-US"/>
        </a:p>
      </dgm:t>
    </dgm:pt>
    <dgm:pt modelId="{198ABAA6-7700-40C3-8840-A345983B36BE}" type="sibTrans" cxnId="{85B35784-932C-43DA-BEEE-C18428E12E59}">
      <dgm:prSet/>
      <dgm:spPr/>
      <dgm:t>
        <a:bodyPr/>
        <a:lstStyle/>
        <a:p>
          <a:endParaRPr lang="en-US"/>
        </a:p>
      </dgm:t>
    </dgm:pt>
    <dgm:pt modelId="{B9F3B0E5-5B12-4ADC-9E86-E15F88AAAB4E}" type="pres">
      <dgm:prSet presAssocID="{353013ED-A1ED-45AD-AA87-7D12375A93B7}" presName="outerComposite" presStyleCnt="0">
        <dgm:presLayoutVars>
          <dgm:chMax val="5"/>
          <dgm:dir/>
          <dgm:resizeHandles val="exact"/>
        </dgm:presLayoutVars>
      </dgm:prSet>
      <dgm:spPr/>
    </dgm:pt>
    <dgm:pt modelId="{F97774E6-1089-4DF8-AD21-AA7AB596F9AA}" type="pres">
      <dgm:prSet presAssocID="{353013ED-A1ED-45AD-AA87-7D12375A93B7}" presName="dummyMaxCanvas" presStyleCnt="0">
        <dgm:presLayoutVars/>
      </dgm:prSet>
      <dgm:spPr/>
    </dgm:pt>
    <dgm:pt modelId="{EBC47884-21DB-4574-BFF7-98EF07717000}" type="pres">
      <dgm:prSet presAssocID="{353013ED-A1ED-45AD-AA87-7D12375A93B7}" presName="FiveNodes_1" presStyleLbl="node1" presStyleIdx="0" presStyleCnt="5">
        <dgm:presLayoutVars>
          <dgm:bulletEnabled val="1"/>
        </dgm:presLayoutVars>
      </dgm:prSet>
      <dgm:spPr/>
    </dgm:pt>
    <dgm:pt modelId="{504B2D82-A1AB-460C-BD8B-56969403C6FB}" type="pres">
      <dgm:prSet presAssocID="{353013ED-A1ED-45AD-AA87-7D12375A93B7}" presName="FiveNodes_2" presStyleLbl="node1" presStyleIdx="1" presStyleCnt="5">
        <dgm:presLayoutVars>
          <dgm:bulletEnabled val="1"/>
        </dgm:presLayoutVars>
      </dgm:prSet>
      <dgm:spPr/>
    </dgm:pt>
    <dgm:pt modelId="{B7F4B03C-C686-4E44-B3F3-C90D3BCB4005}" type="pres">
      <dgm:prSet presAssocID="{353013ED-A1ED-45AD-AA87-7D12375A93B7}" presName="FiveNodes_3" presStyleLbl="node1" presStyleIdx="2" presStyleCnt="5">
        <dgm:presLayoutVars>
          <dgm:bulletEnabled val="1"/>
        </dgm:presLayoutVars>
      </dgm:prSet>
      <dgm:spPr/>
    </dgm:pt>
    <dgm:pt modelId="{42F7C590-84C4-4E74-8C5F-0290283160B5}" type="pres">
      <dgm:prSet presAssocID="{353013ED-A1ED-45AD-AA87-7D12375A93B7}" presName="FiveNodes_4" presStyleLbl="node1" presStyleIdx="3" presStyleCnt="5">
        <dgm:presLayoutVars>
          <dgm:bulletEnabled val="1"/>
        </dgm:presLayoutVars>
      </dgm:prSet>
      <dgm:spPr/>
    </dgm:pt>
    <dgm:pt modelId="{B88C97B8-F6ED-4E4D-AD55-DA7496ABD02E}" type="pres">
      <dgm:prSet presAssocID="{353013ED-A1ED-45AD-AA87-7D12375A93B7}" presName="FiveNodes_5" presStyleLbl="node1" presStyleIdx="4" presStyleCnt="5">
        <dgm:presLayoutVars>
          <dgm:bulletEnabled val="1"/>
        </dgm:presLayoutVars>
      </dgm:prSet>
      <dgm:spPr/>
    </dgm:pt>
    <dgm:pt modelId="{DE923968-EF14-495C-B0CF-BF8DB451F049}" type="pres">
      <dgm:prSet presAssocID="{353013ED-A1ED-45AD-AA87-7D12375A93B7}" presName="FiveConn_1-2" presStyleLbl="fgAccFollowNode1" presStyleIdx="0" presStyleCnt="4">
        <dgm:presLayoutVars>
          <dgm:bulletEnabled val="1"/>
        </dgm:presLayoutVars>
      </dgm:prSet>
      <dgm:spPr/>
    </dgm:pt>
    <dgm:pt modelId="{C005DB64-0528-4DAD-B75E-62D89FA0CD12}" type="pres">
      <dgm:prSet presAssocID="{353013ED-A1ED-45AD-AA87-7D12375A93B7}" presName="FiveConn_2-3" presStyleLbl="fgAccFollowNode1" presStyleIdx="1" presStyleCnt="4">
        <dgm:presLayoutVars>
          <dgm:bulletEnabled val="1"/>
        </dgm:presLayoutVars>
      </dgm:prSet>
      <dgm:spPr/>
    </dgm:pt>
    <dgm:pt modelId="{37F81BDA-8079-4495-B997-797C7D789B4E}" type="pres">
      <dgm:prSet presAssocID="{353013ED-A1ED-45AD-AA87-7D12375A93B7}" presName="FiveConn_3-4" presStyleLbl="fgAccFollowNode1" presStyleIdx="2" presStyleCnt="4">
        <dgm:presLayoutVars>
          <dgm:bulletEnabled val="1"/>
        </dgm:presLayoutVars>
      </dgm:prSet>
      <dgm:spPr/>
    </dgm:pt>
    <dgm:pt modelId="{6F01B5BA-BC7D-4FB4-8E82-A7883DE3C54B}" type="pres">
      <dgm:prSet presAssocID="{353013ED-A1ED-45AD-AA87-7D12375A93B7}" presName="FiveConn_4-5" presStyleLbl="fgAccFollowNode1" presStyleIdx="3" presStyleCnt="4">
        <dgm:presLayoutVars>
          <dgm:bulletEnabled val="1"/>
        </dgm:presLayoutVars>
      </dgm:prSet>
      <dgm:spPr/>
    </dgm:pt>
    <dgm:pt modelId="{7D8403FA-9F58-47F1-8764-E4EB9130A0F6}" type="pres">
      <dgm:prSet presAssocID="{353013ED-A1ED-45AD-AA87-7D12375A93B7}" presName="FiveNodes_1_text" presStyleLbl="node1" presStyleIdx="4" presStyleCnt="5">
        <dgm:presLayoutVars>
          <dgm:bulletEnabled val="1"/>
        </dgm:presLayoutVars>
      </dgm:prSet>
      <dgm:spPr/>
    </dgm:pt>
    <dgm:pt modelId="{8DED1280-76D3-46AD-A56B-F52E2A6F2231}" type="pres">
      <dgm:prSet presAssocID="{353013ED-A1ED-45AD-AA87-7D12375A93B7}" presName="FiveNodes_2_text" presStyleLbl="node1" presStyleIdx="4" presStyleCnt="5">
        <dgm:presLayoutVars>
          <dgm:bulletEnabled val="1"/>
        </dgm:presLayoutVars>
      </dgm:prSet>
      <dgm:spPr/>
    </dgm:pt>
    <dgm:pt modelId="{B7CE8E9F-6FD1-47F2-8EE7-4404725BAFC4}" type="pres">
      <dgm:prSet presAssocID="{353013ED-A1ED-45AD-AA87-7D12375A93B7}" presName="FiveNodes_3_text" presStyleLbl="node1" presStyleIdx="4" presStyleCnt="5">
        <dgm:presLayoutVars>
          <dgm:bulletEnabled val="1"/>
        </dgm:presLayoutVars>
      </dgm:prSet>
      <dgm:spPr/>
    </dgm:pt>
    <dgm:pt modelId="{5B350EB4-B3A2-4389-BA36-E52D4400E506}" type="pres">
      <dgm:prSet presAssocID="{353013ED-A1ED-45AD-AA87-7D12375A93B7}" presName="FiveNodes_4_text" presStyleLbl="node1" presStyleIdx="4" presStyleCnt="5">
        <dgm:presLayoutVars>
          <dgm:bulletEnabled val="1"/>
        </dgm:presLayoutVars>
      </dgm:prSet>
      <dgm:spPr/>
    </dgm:pt>
    <dgm:pt modelId="{7563BACE-D01E-4EBF-8CA1-210A640AF22C}" type="pres">
      <dgm:prSet presAssocID="{353013ED-A1ED-45AD-AA87-7D12375A93B7}" presName="FiveNodes_5_text" presStyleLbl="node1" presStyleIdx="4" presStyleCnt="5">
        <dgm:presLayoutVars>
          <dgm:bulletEnabled val="1"/>
        </dgm:presLayoutVars>
      </dgm:prSet>
      <dgm:spPr/>
    </dgm:pt>
  </dgm:ptLst>
  <dgm:cxnLst>
    <dgm:cxn modelId="{D3AB9920-48EB-45A2-BF58-B1909E9B0C0F}" type="presOf" srcId="{4C121F97-3F9A-4237-8A5B-B8B199AEE026}" destId="{DE923968-EF14-495C-B0CF-BF8DB451F049}" srcOrd="0" destOrd="0" presId="urn:microsoft.com/office/officeart/2005/8/layout/vProcess5"/>
    <dgm:cxn modelId="{AA8B9E36-96B0-4A52-8DE2-82A5ABFBEF0C}" type="presOf" srcId="{E0E1AD51-2358-4604-9F9B-A5206DDD641A}" destId="{8DED1280-76D3-46AD-A56B-F52E2A6F2231}" srcOrd="1" destOrd="0" presId="urn:microsoft.com/office/officeart/2005/8/layout/vProcess5"/>
    <dgm:cxn modelId="{0DD8053A-3482-44E2-947A-01A7D6982202}" srcId="{353013ED-A1ED-45AD-AA87-7D12375A93B7}" destId="{E0E1AD51-2358-4604-9F9B-A5206DDD641A}" srcOrd="1" destOrd="0" parTransId="{66180786-61A3-42B8-B66D-85069151D7D7}" sibTransId="{CEC846A7-7E28-4672-A3AB-27AE5510F0D3}"/>
    <dgm:cxn modelId="{60C8B93F-902D-4C0D-8592-B3B5DEFE666D}" srcId="{353013ED-A1ED-45AD-AA87-7D12375A93B7}" destId="{26F20A22-F746-43EA-ABFC-CB80EBE743DD}" srcOrd="2" destOrd="0" parTransId="{9FE9270E-8B80-4772-A589-2869B496CB0C}" sibTransId="{B70C6A10-61E5-4F15-85EB-D39AB86E8DF9}"/>
    <dgm:cxn modelId="{C4226C60-63B0-478F-97D9-E503526F739B}" type="presOf" srcId="{E0E1AD51-2358-4604-9F9B-A5206DDD641A}" destId="{504B2D82-A1AB-460C-BD8B-56969403C6FB}" srcOrd="0" destOrd="0" presId="urn:microsoft.com/office/officeart/2005/8/layout/vProcess5"/>
    <dgm:cxn modelId="{F1CEE264-5D84-4461-BD90-649E37F9CD19}" type="presOf" srcId="{4144F2ED-F742-4E06-9322-783F432F8CC9}" destId="{7D8403FA-9F58-47F1-8764-E4EB9130A0F6}" srcOrd="1" destOrd="0" presId="urn:microsoft.com/office/officeart/2005/8/layout/vProcess5"/>
    <dgm:cxn modelId="{85B35784-932C-43DA-BEEE-C18428E12E59}" srcId="{353013ED-A1ED-45AD-AA87-7D12375A93B7}" destId="{255A35EE-D3D5-4EBF-A7E8-C33734ADA2A7}" srcOrd="4" destOrd="0" parTransId="{03799F5A-095D-449D-A2B1-C8BD441A1C55}" sibTransId="{198ABAA6-7700-40C3-8840-A345983B36BE}"/>
    <dgm:cxn modelId="{FE7B6093-FB41-4C3E-BB6E-6F51BA63A1E5}" type="presOf" srcId="{77EC396E-69E4-4F0D-991B-11496A1D6FEF}" destId="{42F7C590-84C4-4E74-8C5F-0290283160B5}" srcOrd="0" destOrd="0" presId="urn:microsoft.com/office/officeart/2005/8/layout/vProcess5"/>
    <dgm:cxn modelId="{CD0378A2-34BF-4FC0-85EB-047A64921324}" type="presOf" srcId="{255A35EE-D3D5-4EBF-A7E8-C33734ADA2A7}" destId="{B88C97B8-F6ED-4E4D-AD55-DA7496ABD02E}" srcOrd="0" destOrd="0" presId="urn:microsoft.com/office/officeart/2005/8/layout/vProcess5"/>
    <dgm:cxn modelId="{D2538EB0-FD39-44ED-9E54-D19E83B36EEA}" srcId="{353013ED-A1ED-45AD-AA87-7D12375A93B7}" destId="{4144F2ED-F742-4E06-9322-783F432F8CC9}" srcOrd="0" destOrd="0" parTransId="{4A3B7254-E56A-4874-897C-08CFCF6522CA}" sibTransId="{4C121F97-3F9A-4237-8A5B-B8B199AEE026}"/>
    <dgm:cxn modelId="{17E027B4-EEBF-452D-ACC1-174B56D47BE3}" type="presOf" srcId="{B70C6A10-61E5-4F15-85EB-D39AB86E8DF9}" destId="{37F81BDA-8079-4495-B997-797C7D789B4E}" srcOrd="0" destOrd="0" presId="urn:microsoft.com/office/officeart/2005/8/layout/vProcess5"/>
    <dgm:cxn modelId="{06003AB7-89A3-4B93-82D2-2C0F0FBA84AF}" type="presOf" srcId="{77EC396E-69E4-4F0D-991B-11496A1D6FEF}" destId="{5B350EB4-B3A2-4389-BA36-E52D4400E506}" srcOrd="1" destOrd="0" presId="urn:microsoft.com/office/officeart/2005/8/layout/vProcess5"/>
    <dgm:cxn modelId="{573170B9-8D6C-4F1B-B321-EBE789055B0F}" type="presOf" srcId="{CEC846A7-7E28-4672-A3AB-27AE5510F0D3}" destId="{C005DB64-0528-4DAD-B75E-62D89FA0CD12}" srcOrd="0" destOrd="0" presId="urn:microsoft.com/office/officeart/2005/8/layout/vProcess5"/>
    <dgm:cxn modelId="{E4BF61C3-03D5-469E-968E-C4796DB6DA62}" type="presOf" srcId="{4144F2ED-F742-4E06-9322-783F432F8CC9}" destId="{EBC47884-21DB-4574-BFF7-98EF07717000}" srcOrd="0" destOrd="0" presId="urn:microsoft.com/office/officeart/2005/8/layout/vProcess5"/>
    <dgm:cxn modelId="{23C814CB-F491-4895-A110-368ECFD4E6E0}" type="presOf" srcId="{26F20A22-F746-43EA-ABFC-CB80EBE743DD}" destId="{B7CE8E9F-6FD1-47F2-8EE7-4404725BAFC4}" srcOrd="1" destOrd="0" presId="urn:microsoft.com/office/officeart/2005/8/layout/vProcess5"/>
    <dgm:cxn modelId="{067992D0-9D2A-4E92-A315-A4AA5D8AEF1F}" type="presOf" srcId="{255A35EE-D3D5-4EBF-A7E8-C33734ADA2A7}" destId="{7563BACE-D01E-4EBF-8CA1-210A640AF22C}" srcOrd="1" destOrd="0" presId="urn:microsoft.com/office/officeart/2005/8/layout/vProcess5"/>
    <dgm:cxn modelId="{1C8F65D1-3446-42E2-A45D-2CB62F640D6C}" type="presOf" srcId="{353013ED-A1ED-45AD-AA87-7D12375A93B7}" destId="{B9F3B0E5-5B12-4ADC-9E86-E15F88AAAB4E}" srcOrd="0" destOrd="0" presId="urn:microsoft.com/office/officeart/2005/8/layout/vProcess5"/>
    <dgm:cxn modelId="{896FB0D4-E094-4F4B-9AD6-F530B1C5A3F9}" type="presOf" srcId="{D9C90FB0-90E3-40E4-A314-E0E99054E15D}" destId="{6F01B5BA-BC7D-4FB4-8E82-A7883DE3C54B}" srcOrd="0" destOrd="0" presId="urn:microsoft.com/office/officeart/2005/8/layout/vProcess5"/>
    <dgm:cxn modelId="{555A7EE1-1B48-4144-9EA9-D438F1653762}" srcId="{353013ED-A1ED-45AD-AA87-7D12375A93B7}" destId="{77EC396E-69E4-4F0D-991B-11496A1D6FEF}" srcOrd="3" destOrd="0" parTransId="{CF8F6C00-35E5-4C06-BAD2-A7086D5EF42D}" sibTransId="{D9C90FB0-90E3-40E4-A314-E0E99054E15D}"/>
    <dgm:cxn modelId="{52D762E4-4AFD-4379-B435-6437EE8CBB3A}" type="presOf" srcId="{26F20A22-F746-43EA-ABFC-CB80EBE743DD}" destId="{B7F4B03C-C686-4E44-B3F3-C90D3BCB4005}" srcOrd="0" destOrd="0" presId="urn:microsoft.com/office/officeart/2005/8/layout/vProcess5"/>
    <dgm:cxn modelId="{C8624FB1-A0D6-4CD1-9E02-22F0080BDA95}" type="presParOf" srcId="{B9F3B0E5-5B12-4ADC-9E86-E15F88AAAB4E}" destId="{F97774E6-1089-4DF8-AD21-AA7AB596F9AA}" srcOrd="0" destOrd="0" presId="urn:microsoft.com/office/officeart/2005/8/layout/vProcess5"/>
    <dgm:cxn modelId="{09BAEA93-1ABE-48DF-BFB3-64CF4CBEA25F}" type="presParOf" srcId="{B9F3B0E5-5B12-4ADC-9E86-E15F88AAAB4E}" destId="{EBC47884-21DB-4574-BFF7-98EF07717000}" srcOrd="1" destOrd="0" presId="urn:microsoft.com/office/officeart/2005/8/layout/vProcess5"/>
    <dgm:cxn modelId="{B97AAA60-9225-424D-949F-64A34FBB348E}" type="presParOf" srcId="{B9F3B0E5-5B12-4ADC-9E86-E15F88AAAB4E}" destId="{504B2D82-A1AB-460C-BD8B-56969403C6FB}" srcOrd="2" destOrd="0" presId="urn:microsoft.com/office/officeart/2005/8/layout/vProcess5"/>
    <dgm:cxn modelId="{D400B40A-9EAC-4950-9C8C-3333D390D53A}" type="presParOf" srcId="{B9F3B0E5-5B12-4ADC-9E86-E15F88AAAB4E}" destId="{B7F4B03C-C686-4E44-B3F3-C90D3BCB4005}" srcOrd="3" destOrd="0" presId="urn:microsoft.com/office/officeart/2005/8/layout/vProcess5"/>
    <dgm:cxn modelId="{82F9432C-EE22-4DEF-87E8-E41D022C6A28}" type="presParOf" srcId="{B9F3B0E5-5B12-4ADC-9E86-E15F88AAAB4E}" destId="{42F7C590-84C4-4E74-8C5F-0290283160B5}" srcOrd="4" destOrd="0" presId="urn:microsoft.com/office/officeart/2005/8/layout/vProcess5"/>
    <dgm:cxn modelId="{9CD00CE4-C816-4932-99EC-AFE03FF4BD2C}" type="presParOf" srcId="{B9F3B0E5-5B12-4ADC-9E86-E15F88AAAB4E}" destId="{B88C97B8-F6ED-4E4D-AD55-DA7496ABD02E}" srcOrd="5" destOrd="0" presId="urn:microsoft.com/office/officeart/2005/8/layout/vProcess5"/>
    <dgm:cxn modelId="{950109DE-EE71-4613-BD63-B77C752B8C4E}" type="presParOf" srcId="{B9F3B0E5-5B12-4ADC-9E86-E15F88AAAB4E}" destId="{DE923968-EF14-495C-B0CF-BF8DB451F049}" srcOrd="6" destOrd="0" presId="urn:microsoft.com/office/officeart/2005/8/layout/vProcess5"/>
    <dgm:cxn modelId="{8A5BD4ED-77B1-4D41-BEE1-A29A72BD55FC}" type="presParOf" srcId="{B9F3B0E5-5B12-4ADC-9E86-E15F88AAAB4E}" destId="{C005DB64-0528-4DAD-B75E-62D89FA0CD12}" srcOrd="7" destOrd="0" presId="urn:microsoft.com/office/officeart/2005/8/layout/vProcess5"/>
    <dgm:cxn modelId="{B93FF634-5730-4987-BB5D-DC5147CD6AF3}" type="presParOf" srcId="{B9F3B0E5-5B12-4ADC-9E86-E15F88AAAB4E}" destId="{37F81BDA-8079-4495-B997-797C7D789B4E}" srcOrd="8" destOrd="0" presId="urn:microsoft.com/office/officeart/2005/8/layout/vProcess5"/>
    <dgm:cxn modelId="{CC4AAC22-3EF7-4E8C-9197-D63B1ABCA9FA}" type="presParOf" srcId="{B9F3B0E5-5B12-4ADC-9E86-E15F88AAAB4E}" destId="{6F01B5BA-BC7D-4FB4-8E82-A7883DE3C54B}" srcOrd="9" destOrd="0" presId="urn:microsoft.com/office/officeart/2005/8/layout/vProcess5"/>
    <dgm:cxn modelId="{1412BD88-45DF-429D-8053-6CDE758EE72F}" type="presParOf" srcId="{B9F3B0E5-5B12-4ADC-9E86-E15F88AAAB4E}" destId="{7D8403FA-9F58-47F1-8764-E4EB9130A0F6}" srcOrd="10" destOrd="0" presId="urn:microsoft.com/office/officeart/2005/8/layout/vProcess5"/>
    <dgm:cxn modelId="{476F6FA8-CB38-42A8-8536-453714BDF043}" type="presParOf" srcId="{B9F3B0E5-5B12-4ADC-9E86-E15F88AAAB4E}" destId="{8DED1280-76D3-46AD-A56B-F52E2A6F2231}" srcOrd="11" destOrd="0" presId="urn:microsoft.com/office/officeart/2005/8/layout/vProcess5"/>
    <dgm:cxn modelId="{647D41E8-4412-44DC-BB77-4A4BF8CB9CAC}" type="presParOf" srcId="{B9F3B0E5-5B12-4ADC-9E86-E15F88AAAB4E}" destId="{B7CE8E9F-6FD1-47F2-8EE7-4404725BAFC4}" srcOrd="12" destOrd="0" presId="urn:microsoft.com/office/officeart/2005/8/layout/vProcess5"/>
    <dgm:cxn modelId="{62F5ED54-F7BD-4F60-A49A-EDF1AEBC4159}" type="presParOf" srcId="{B9F3B0E5-5B12-4ADC-9E86-E15F88AAAB4E}" destId="{5B350EB4-B3A2-4389-BA36-E52D4400E506}" srcOrd="13" destOrd="0" presId="urn:microsoft.com/office/officeart/2005/8/layout/vProcess5"/>
    <dgm:cxn modelId="{83819B07-8424-4F33-A223-8604D08D211B}" type="presParOf" srcId="{B9F3B0E5-5B12-4ADC-9E86-E15F88AAAB4E}" destId="{7563BACE-D01E-4EBF-8CA1-210A640AF22C}"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C47884-21DB-4574-BFF7-98EF07717000}">
      <dsp:nvSpPr>
        <dsp:cNvPr id="0" name=""/>
        <dsp:cNvSpPr/>
      </dsp:nvSpPr>
      <dsp:spPr>
        <a:xfrm>
          <a:off x="0" y="0"/>
          <a:ext cx="7241351" cy="730158"/>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if; one is spending too much money on it, </a:t>
          </a:r>
          <a:endParaRPr lang="en-US" sz="1900" kern="1200"/>
        </a:p>
      </dsp:txBody>
      <dsp:txXfrm>
        <a:off x="21386" y="21386"/>
        <a:ext cx="6368024" cy="687386"/>
      </dsp:txXfrm>
    </dsp:sp>
    <dsp:sp modelId="{504B2D82-A1AB-460C-BD8B-56969403C6FB}">
      <dsp:nvSpPr>
        <dsp:cNvPr id="0" name=""/>
        <dsp:cNvSpPr/>
      </dsp:nvSpPr>
      <dsp:spPr>
        <a:xfrm>
          <a:off x="540750" y="831568"/>
          <a:ext cx="7241351" cy="730158"/>
        </a:xfrm>
        <a:prstGeom prst="roundRect">
          <a:avLst>
            <a:gd name="adj" fmla="val 10000"/>
          </a:avLst>
        </a:prstGeom>
        <a:solidFill>
          <a:schemeClr val="accent2">
            <a:hueOff val="338703"/>
            <a:satOff val="-1658"/>
            <a:lumOff val="93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until it is all they think about, </a:t>
          </a:r>
          <a:endParaRPr lang="en-US" sz="1900" kern="1200"/>
        </a:p>
      </dsp:txBody>
      <dsp:txXfrm>
        <a:off x="562136" y="852954"/>
        <a:ext cx="6183226" cy="687386"/>
      </dsp:txXfrm>
    </dsp:sp>
    <dsp:sp modelId="{B7F4B03C-C686-4E44-B3F3-C90D3BCB4005}">
      <dsp:nvSpPr>
        <dsp:cNvPr id="0" name=""/>
        <dsp:cNvSpPr/>
      </dsp:nvSpPr>
      <dsp:spPr>
        <a:xfrm>
          <a:off x="1081500" y="1663137"/>
          <a:ext cx="7241351" cy="730158"/>
        </a:xfrm>
        <a:prstGeom prst="roundRect">
          <a:avLst>
            <a:gd name="adj" fmla="val 10000"/>
          </a:avLst>
        </a:prstGeom>
        <a:solidFill>
          <a:schemeClr val="accent2">
            <a:hueOff val="677407"/>
            <a:satOff val="-3316"/>
            <a:lumOff val="186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they find themselves borrowing money to bet,</a:t>
          </a:r>
          <a:endParaRPr lang="en-US" sz="1900" kern="1200"/>
        </a:p>
      </dsp:txBody>
      <dsp:txXfrm>
        <a:off x="1102886" y="1684523"/>
        <a:ext cx="6183226" cy="687386"/>
      </dsp:txXfrm>
    </dsp:sp>
    <dsp:sp modelId="{42F7C590-84C4-4E74-8C5F-0290283160B5}">
      <dsp:nvSpPr>
        <dsp:cNvPr id="0" name=""/>
        <dsp:cNvSpPr/>
      </dsp:nvSpPr>
      <dsp:spPr>
        <a:xfrm>
          <a:off x="1622250" y="2494706"/>
          <a:ext cx="7241351" cy="730158"/>
        </a:xfrm>
        <a:prstGeom prst="roundRect">
          <a:avLst>
            <a:gd name="adj" fmla="val 10000"/>
          </a:avLst>
        </a:prstGeom>
        <a:solidFill>
          <a:schemeClr val="accent2">
            <a:hueOff val="1016110"/>
            <a:satOff val="-4974"/>
            <a:lumOff val="279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they get into financial difficulties, or </a:t>
          </a:r>
          <a:endParaRPr lang="en-US" sz="1900" kern="1200"/>
        </a:p>
      </dsp:txBody>
      <dsp:txXfrm>
        <a:off x="1643636" y="2516092"/>
        <a:ext cx="6183226" cy="687386"/>
      </dsp:txXfrm>
    </dsp:sp>
    <dsp:sp modelId="{B88C97B8-F6ED-4E4D-AD55-DA7496ABD02E}">
      <dsp:nvSpPr>
        <dsp:cNvPr id="0" name=""/>
        <dsp:cNvSpPr/>
      </dsp:nvSpPr>
      <dsp:spPr>
        <a:xfrm>
          <a:off x="2163000" y="3326275"/>
          <a:ext cx="7241351" cy="730158"/>
        </a:xfrm>
        <a:prstGeom prst="roundRect">
          <a:avLst>
            <a:gd name="adj" fmla="val 10000"/>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they think that all their financial problems can be solved by betting and scoring a large one</a:t>
          </a:r>
          <a:endParaRPr lang="en-US" sz="1900" kern="1200"/>
        </a:p>
      </dsp:txBody>
      <dsp:txXfrm>
        <a:off x="2184386" y="3347661"/>
        <a:ext cx="6183226" cy="687386"/>
      </dsp:txXfrm>
    </dsp:sp>
    <dsp:sp modelId="{DE923968-EF14-495C-B0CF-BF8DB451F049}">
      <dsp:nvSpPr>
        <dsp:cNvPr id="0" name=""/>
        <dsp:cNvSpPr/>
      </dsp:nvSpPr>
      <dsp:spPr>
        <a:xfrm>
          <a:off x="6766748" y="533421"/>
          <a:ext cx="474602" cy="474602"/>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6873533" y="533421"/>
        <a:ext cx="261032" cy="357138"/>
      </dsp:txXfrm>
    </dsp:sp>
    <dsp:sp modelId="{C005DB64-0528-4DAD-B75E-62D89FA0CD12}">
      <dsp:nvSpPr>
        <dsp:cNvPr id="0" name=""/>
        <dsp:cNvSpPr/>
      </dsp:nvSpPr>
      <dsp:spPr>
        <a:xfrm>
          <a:off x="7307498" y="1364990"/>
          <a:ext cx="474602" cy="474602"/>
        </a:xfrm>
        <a:prstGeom prst="downArrow">
          <a:avLst>
            <a:gd name="adj1" fmla="val 55000"/>
            <a:gd name="adj2" fmla="val 45000"/>
          </a:avLst>
        </a:prstGeom>
        <a:solidFill>
          <a:schemeClr val="accent2">
            <a:tint val="40000"/>
            <a:alpha val="90000"/>
            <a:hueOff val="543256"/>
            <a:satOff val="-1571"/>
            <a:lumOff val="-33"/>
            <a:alphaOff val="0"/>
          </a:schemeClr>
        </a:solidFill>
        <a:ln w="19050" cap="rnd" cmpd="sng" algn="ctr">
          <a:solidFill>
            <a:schemeClr val="accent2">
              <a:tint val="40000"/>
              <a:alpha val="90000"/>
              <a:hueOff val="543256"/>
              <a:satOff val="-1571"/>
              <a:lumOff val="-3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7414283" y="1364990"/>
        <a:ext cx="261032" cy="357138"/>
      </dsp:txXfrm>
    </dsp:sp>
    <dsp:sp modelId="{37F81BDA-8079-4495-B997-797C7D789B4E}">
      <dsp:nvSpPr>
        <dsp:cNvPr id="0" name=""/>
        <dsp:cNvSpPr/>
      </dsp:nvSpPr>
      <dsp:spPr>
        <a:xfrm>
          <a:off x="7848248" y="2184389"/>
          <a:ext cx="474602" cy="474602"/>
        </a:xfrm>
        <a:prstGeom prst="downArrow">
          <a:avLst>
            <a:gd name="adj1" fmla="val 55000"/>
            <a:gd name="adj2" fmla="val 45000"/>
          </a:avLst>
        </a:prstGeom>
        <a:solidFill>
          <a:schemeClr val="accent2">
            <a:tint val="40000"/>
            <a:alpha val="90000"/>
            <a:hueOff val="1086513"/>
            <a:satOff val="-3142"/>
            <a:lumOff val="-67"/>
            <a:alphaOff val="0"/>
          </a:schemeClr>
        </a:solidFill>
        <a:ln w="19050" cap="rnd" cmpd="sng" algn="ctr">
          <a:solidFill>
            <a:schemeClr val="accent2">
              <a:tint val="40000"/>
              <a:alpha val="90000"/>
              <a:hueOff val="1086513"/>
              <a:satOff val="-3142"/>
              <a:lumOff val="-6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7955033" y="2184389"/>
        <a:ext cx="261032" cy="357138"/>
      </dsp:txXfrm>
    </dsp:sp>
    <dsp:sp modelId="{6F01B5BA-BC7D-4FB4-8E82-A7883DE3C54B}">
      <dsp:nvSpPr>
        <dsp:cNvPr id="0" name=""/>
        <dsp:cNvSpPr/>
      </dsp:nvSpPr>
      <dsp:spPr>
        <a:xfrm>
          <a:off x="8388998" y="3024071"/>
          <a:ext cx="474602" cy="474602"/>
        </a:xfrm>
        <a:prstGeom prst="downArrow">
          <a:avLst>
            <a:gd name="adj1" fmla="val 55000"/>
            <a:gd name="adj2" fmla="val 45000"/>
          </a:avLst>
        </a:prstGeom>
        <a:solidFill>
          <a:schemeClr val="accent2">
            <a:tint val="40000"/>
            <a:alpha val="90000"/>
            <a:hueOff val="1629769"/>
            <a:satOff val="-4713"/>
            <a:lumOff val="-100"/>
            <a:alphaOff val="0"/>
          </a:schemeClr>
        </a:solidFill>
        <a:ln w="19050" cap="rnd" cmpd="sng" algn="ctr">
          <a:solidFill>
            <a:schemeClr val="accent2">
              <a:tint val="40000"/>
              <a:alpha val="90000"/>
              <a:hueOff val="1629769"/>
              <a:satOff val="-4713"/>
              <a:lumOff val="-1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8495783" y="3024071"/>
        <a:ext cx="261032" cy="357138"/>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4B2273-D61D-426A-8107-1C73FF11F084}" type="datetimeFigureOut">
              <a:rPr lang="en-US" smtClean="0"/>
              <a:t>5/19/2023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09EA8-5CFC-449A-9426-33CB2139458A}" type="slidenum">
              <a:rPr lang="en-US" smtClean="0"/>
              <a:t>‹#›</a:t>
            </a:fld>
            <a:endParaRPr lang="en-US"/>
          </a:p>
        </p:txBody>
      </p:sp>
    </p:spTree>
    <p:extLst>
      <p:ext uri="{BB962C8B-B14F-4D97-AF65-F5344CB8AC3E}">
        <p14:creationId xmlns:p14="http://schemas.microsoft.com/office/powerpoint/2010/main" val="1767322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34B2273-D61D-426A-8107-1C73FF11F084}" type="datetimeFigureOut">
              <a:rPr lang="en-US" smtClean="0"/>
              <a:t>5/19/2023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09EA8-5CFC-449A-9426-33CB2139458A}" type="slidenum">
              <a:rPr lang="en-US" smtClean="0"/>
              <a:t>‹#›</a:t>
            </a:fld>
            <a:endParaRPr lang="en-US"/>
          </a:p>
        </p:txBody>
      </p:sp>
    </p:spTree>
    <p:extLst>
      <p:ext uri="{BB962C8B-B14F-4D97-AF65-F5344CB8AC3E}">
        <p14:creationId xmlns:p14="http://schemas.microsoft.com/office/powerpoint/2010/main" val="1777223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4B2273-D61D-426A-8107-1C73FF11F084}" type="datetimeFigureOut">
              <a:rPr lang="en-US" smtClean="0"/>
              <a:t>5/19/2023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09EA8-5CFC-449A-9426-33CB2139458A}" type="slidenum">
              <a:rPr lang="en-US" smtClean="0"/>
              <a:t>‹#›</a:t>
            </a:fld>
            <a:endParaRPr lang="en-US"/>
          </a:p>
        </p:txBody>
      </p:sp>
    </p:spTree>
    <p:extLst>
      <p:ext uri="{BB962C8B-B14F-4D97-AF65-F5344CB8AC3E}">
        <p14:creationId xmlns:p14="http://schemas.microsoft.com/office/powerpoint/2010/main" val="3774259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4B2273-D61D-426A-8107-1C73FF11F084}" type="datetimeFigureOut">
              <a:rPr lang="en-US" smtClean="0"/>
              <a:t>5/19/2023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409EA8-5CFC-449A-9426-33CB2139458A}" type="slidenum">
              <a:rPr lang="en-US" smtClean="0"/>
              <a:t>‹#›</a:t>
            </a:fld>
            <a:endParaRPr lang="en-US"/>
          </a:p>
        </p:txBody>
      </p:sp>
    </p:spTree>
    <p:extLst>
      <p:ext uri="{BB962C8B-B14F-4D97-AF65-F5344CB8AC3E}">
        <p14:creationId xmlns:p14="http://schemas.microsoft.com/office/powerpoint/2010/main" val="89334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4B2273-D61D-426A-8107-1C73FF11F084}" type="datetimeFigureOut">
              <a:rPr lang="en-US" smtClean="0"/>
              <a:t>5/19/2023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409EA8-5CFC-449A-9426-33CB2139458A}" type="slidenum">
              <a:rPr lang="en-US" smtClean="0"/>
              <a:t>‹#›</a:t>
            </a:fld>
            <a:endParaRPr lang="en-US"/>
          </a:p>
        </p:txBody>
      </p:sp>
    </p:spTree>
    <p:extLst>
      <p:ext uri="{BB962C8B-B14F-4D97-AF65-F5344CB8AC3E}">
        <p14:creationId xmlns:p14="http://schemas.microsoft.com/office/powerpoint/2010/main" val="3544346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34B2273-D61D-426A-8107-1C73FF11F084}" type="datetimeFigureOut">
              <a:rPr lang="en-US" smtClean="0"/>
              <a:t>5/19/2023</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32409EA8-5CFC-449A-9426-33CB2139458A}" type="slidenum">
              <a:rPr lang="en-US" smtClean="0"/>
              <a:t>‹#›</a:t>
            </a:fld>
            <a:endParaRPr lang="en-US"/>
          </a:p>
        </p:txBody>
      </p:sp>
    </p:spTree>
    <p:extLst>
      <p:ext uri="{BB962C8B-B14F-4D97-AF65-F5344CB8AC3E}">
        <p14:creationId xmlns:p14="http://schemas.microsoft.com/office/powerpoint/2010/main" val="2232236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34B2273-D61D-426A-8107-1C73FF11F084}" type="datetimeFigureOut">
              <a:rPr lang="en-US" smtClean="0"/>
              <a:t>5/19/2023</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32409EA8-5CFC-449A-9426-33CB2139458A}" type="slidenum">
              <a:rPr lang="en-US" smtClean="0"/>
              <a:t>‹#›</a:t>
            </a:fld>
            <a:endParaRPr lang="en-US"/>
          </a:p>
        </p:txBody>
      </p:sp>
    </p:spTree>
    <p:extLst>
      <p:ext uri="{BB962C8B-B14F-4D97-AF65-F5344CB8AC3E}">
        <p14:creationId xmlns:p14="http://schemas.microsoft.com/office/powerpoint/2010/main" val="21081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34B2273-D61D-426A-8107-1C73FF11F084}" type="datetimeFigureOut">
              <a:rPr lang="en-US" smtClean="0"/>
              <a:t>5/19/2023</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32409EA8-5CFC-449A-9426-33CB2139458A}" type="slidenum">
              <a:rPr lang="en-US" smtClean="0"/>
              <a:t>‹#›</a:t>
            </a:fld>
            <a:endParaRPr lang="en-US"/>
          </a:p>
        </p:txBody>
      </p:sp>
    </p:spTree>
    <p:extLst>
      <p:ext uri="{BB962C8B-B14F-4D97-AF65-F5344CB8AC3E}">
        <p14:creationId xmlns:p14="http://schemas.microsoft.com/office/powerpoint/2010/main" val="2722714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4B2273-D61D-426A-8107-1C73FF11F084}" type="datetimeFigureOut">
              <a:rPr lang="en-US" smtClean="0"/>
              <a:t>5/19/2023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409EA8-5CFC-449A-9426-33CB2139458A}" type="slidenum">
              <a:rPr lang="en-US" smtClean="0"/>
              <a:t>‹#›</a:t>
            </a:fld>
            <a:endParaRPr lang="en-US"/>
          </a:p>
        </p:txBody>
      </p:sp>
    </p:spTree>
    <p:extLst>
      <p:ext uri="{BB962C8B-B14F-4D97-AF65-F5344CB8AC3E}">
        <p14:creationId xmlns:p14="http://schemas.microsoft.com/office/powerpoint/2010/main" val="1509128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4B2273-D61D-426A-8107-1C73FF11F084}" type="datetimeFigureOut">
              <a:rPr lang="en-US" smtClean="0"/>
              <a:pPr/>
              <a:t>5/19/2023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409EA8-5CFC-449A-9426-33CB2139458A}" type="slidenum">
              <a:rPr lang="en-US" smtClean="0"/>
              <a:pPr/>
              <a:t>‹#›</a:t>
            </a:fld>
            <a:endParaRPr lang="en-US"/>
          </a:p>
        </p:txBody>
      </p:sp>
    </p:spTree>
    <p:extLst>
      <p:ext uri="{BB962C8B-B14F-4D97-AF65-F5344CB8AC3E}">
        <p14:creationId xmlns:p14="http://schemas.microsoft.com/office/powerpoint/2010/main" val="1163669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34B2273-D61D-426A-8107-1C73FF11F084}" type="datetimeFigureOut">
              <a:rPr lang="en-US" smtClean="0"/>
              <a:pPr/>
              <a:t>5/19/2023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09EA8-5CFC-449A-9426-33CB2139458A}" type="slidenum">
              <a:rPr lang="en-US" smtClean="0"/>
              <a:pPr/>
              <a:t>‹#›</a:t>
            </a:fld>
            <a:endParaRPr lang="en-US"/>
          </a:p>
        </p:txBody>
      </p:sp>
    </p:spTree>
    <p:extLst>
      <p:ext uri="{BB962C8B-B14F-4D97-AF65-F5344CB8AC3E}">
        <p14:creationId xmlns:p14="http://schemas.microsoft.com/office/powerpoint/2010/main" val="808880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34B2273-D61D-426A-8107-1C73FF11F084}" type="datetimeFigureOut">
              <a:rPr lang="en-US" smtClean="0"/>
              <a:pPr/>
              <a:t>5/19/2023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09EA8-5CFC-449A-9426-33CB2139458A}" type="slidenum">
              <a:rPr lang="en-US" smtClean="0"/>
              <a:pPr/>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438734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4B2273-D61D-426A-8107-1C73FF11F084}" type="datetimeFigureOut">
              <a:rPr lang="en-US" smtClean="0"/>
              <a:pPr/>
              <a:t>5/19/2023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09EA8-5CFC-449A-9426-33CB2139458A}" type="slidenum">
              <a:rPr lang="en-US" smtClean="0"/>
              <a:pPr/>
              <a:t>‹#›</a:t>
            </a:fld>
            <a:endParaRPr lang="en-US"/>
          </a:p>
        </p:txBody>
      </p:sp>
    </p:spTree>
    <p:extLst>
      <p:ext uri="{BB962C8B-B14F-4D97-AF65-F5344CB8AC3E}">
        <p14:creationId xmlns:p14="http://schemas.microsoft.com/office/powerpoint/2010/main" val="3637832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34B2273-D61D-426A-8107-1C73FF11F084}" type="datetimeFigureOut">
              <a:rPr lang="en-US" smtClean="0"/>
              <a:pPr/>
              <a:t>5/19/2023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09EA8-5CFC-449A-9426-33CB2139458A}" type="slidenum">
              <a:rPr lang="en-US" smtClean="0"/>
              <a:pPr/>
              <a:t>‹#›</a:t>
            </a:fld>
            <a:endParaRPr lang="en-US"/>
          </a:p>
        </p:txBody>
      </p:sp>
    </p:spTree>
    <p:extLst>
      <p:ext uri="{BB962C8B-B14F-4D97-AF65-F5344CB8AC3E}">
        <p14:creationId xmlns:p14="http://schemas.microsoft.com/office/powerpoint/2010/main" val="40053247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34B2273-D61D-426A-8107-1C73FF11F084}" type="datetimeFigureOut">
              <a:rPr lang="en-US" smtClean="0"/>
              <a:pPr/>
              <a:t>5/19/2023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09EA8-5CFC-449A-9426-33CB2139458A}" type="slidenum">
              <a:rPr lang="en-US" smtClean="0"/>
              <a:pPr/>
              <a:t>‹#›</a:t>
            </a:fld>
            <a:endParaRPr lang="en-US"/>
          </a:p>
        </p:txBody>
      </p:sp>
    </p:spTree>
    <p:extLst>
      <p:ext uri="{BB962C8B-B14F-4D97-AF65-F5344CB8AC3E}">
        <p14:creationId xmlns:p14="http://schemas.microsoft.com/office/powerpoint/2010/main" val="15196725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4B2273-D61D-426A-8107-1C73FF11F084}" type="datetimeFigureOut">
              <a:rPr lang="en-US" smtClean="0"/>
              <a:t>5/19/2023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09EA8-5CFC-449A-9426-33CB2139458A}" type="slidenum">
              <a:rPr lang="en-US" smtClean="0"/>
              <a:t>‹#›</a:t>
            </a:fld>
            <a:endParaRPr lang="en-US"/>
          </a:p>
        </p:txBody>
      </p:sp>
    </p:spTree>
    <p:extLst>
      <p:ext uri="{BB962C8B-B14F-4D97-AF65-F5344CB8AC3E}">
        <p14:creationId xmlns:p14="http://schemas.microsoft.com/office/powerpoint/2010/main" val="31229587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4B2273-D61D-426A-8107-1C73FF11F084}" type="datetimeFigureOut">
              <a:rPr lang="en-US" smtClean="0"/>
              <a:t>5/19/2023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09EA8-5CFC-449A-9426-33CB2139458A}" type="slidenum">
              <a:rPr lang="en-US" smtClean="0"/>
              <a:t>‹#›</a:t>
            </a:fld>
            <a:endParaRPr lang="en-US"/>
          </a:p>
        </p:txBody>
      </p:sp>
    </p:spTree>
    <p:extLst>
      <p:ext uri="{BB962C8B-B14F-4D97-AF65-F5344CB8AC3E}">
        <p14:creationId xmlns:p14="http://schemas.microsoft.com/office/powerpoint/2010/main" val="992907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34B2273-D61D-426A-8107-1C73FF11F084}" type="datetimeFigureOut">
              <a:rPr lang="en-US" smtClean="0"/>
              <a:pPr/>
              <a:t>5/19/2023</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2409EA8-5CFC-449A-9426-33CB2139458A}" type="slidenum">
              <a:rPr lang="en-US" smtClean="0"/>
              <a:pPr/>
              <a:t>‹#›</a:t>
            </a:fld>
            <a:endParaRPr lang="en-US"/>
          </a:p>
        </p:txBody>
      </p:sp>
    </p:spTree>
    <p:extLst>
      <p:ext uri="{BB962C8B-B14F-4D97-AF65-F5344CB8AC3E}">
        <p14:creationId xmlns:p14="http://schemas.microsoft.com/office/powerpoint/2010/main" val="319023137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1.xml"/><Relationship Id="rId1" Type="http://schemas.openxmlformats.org/officeDocument/2006/relationships/video" Target="https://www.youtube.com/embed/Y5gPQXbFs9Y?feature=oembed"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hyperlink" Target="https://sharewithacounsellor.com/gambling-addiction-counselling-in-kenya.html" TargetMode="External"/><Relationship Id="rId4" Type="http://schemas.openxmlformats.org/officeDocument/2006/relationships/hyperlink" Target="https://gamhelpkenya.com/"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4322390-8B58-46BE-88EB-D9FD30C08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p view of miscellaneous board game pieces">
            <a:extLst>
              <a:ext uri="{FF2B5EF4-FFF2-40B4-BE49-F238E27FC236}">
                <a16:creationId xmlns:a16="http://schemas.microsoft.com/office/drawing/2014/main" id="{9088835D-0EDE-08C0-C077-536793A17D5D}"/>
              </a:ext>
            </a:extLst>
          </p:cNvPr>
          <p:cNvPicPr>
            <a:picLocks noChangeAspect="1"/>
          </p:cNvPicPr>
          <p:nvPr/>
        </p:nvPicPr>
        <p:blipFill rotWithShape="1">
          <a:blip r:embed="rId2">
            <a:alphaModFix amt="40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7842C4CE-5877-8179-66A4-59CA2F0DBE91}"/>
              </a:ext>
            </a:extLst>
          </p:cNvPr>
          <p:cNvSpPr>
            <a:spLocks noGrp="1"/>
          </p:cNvSpPr>
          <p:nvPr>
            <p:ph type="ctrTitle"/>
          </p:nvPr>
        </p:nvSpPr>
        <p:spPr>
          <a:xfrm>
            <a:off x="1154955" y="1447800"/>
            <a:ext cx="8825658" cy="3329581"/>
          </a:xfrm>
        </p:spPr>
        <p:txBody>
          <a:bodyPr>
            <a:normAutofit/>
          </a:bodyPr>
          <a:lstStyle/>
          <a:p>
            <a:r>
              <a:rPr lang="en-US">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Gambling</a:t>
            </a:r>
            <a:endParaRPr lang="en-US">
              <a:solidFill>
                <a:schemeClr val="tx1"/>
              </a:solidFill>
            </a:endParaRPr>
          </a:p>
        </p:txBody>
      </p:sp>
      <p:sp>
        <p:nvSpPr>
          <p:cNvPr id="3" name="Subtitle 2">
            <a:extLst>
              <a:ext uri="{FF2B5EF4-FFF2-40B4-BE49-F238E27FC236}">
                <a16:creationId xmlns:a16="http://schemas.microsoft.com/office/drawing/2014/main" id="{6A31623F-3C42-6C10-CCDD-2EC593349C56}"/>
              </a:ext>
            </a:extLst>
          </p:cNvPr>
          <p:cNvSpPr>
            <a:spLocks noGrp="1"/>
          </p:cNvSpPr>
          <p:nvPr>
            <p:ph type="subTitle" idx="1"/>
          </p:nvPr>
        </p:nvSpPr>
        <p:spPr>
          <a:xfrm>
            <a:off x="1154955" y="4777380"/>
            <a:ext cx="8825658" cy="861420"/>
          </a:xfrm>
        </p:spPr>
        <p:txBody>
          <a:bodyPr>
            <a:normAutofit/>
          </a:bodyPr>
          <a:lstStyle/>
          <a:p>
            <a:r>
              <a:rPr lang="en-US">
                <a:solidFill>
                  <a:schemeClr val="tx1"/>
                </a:solidFill>
              </a:rPr>
              <a:t>IS GAMBLING WISE FINANCIAL MANAGEMENT?</a:t>
            </a:r>
          </a:p>
        </p:txBody>
      </p:sp>
      <p:sp>
        <p:nvSpPr>
          <p:cNvPr id="11" name="Rectangle 10">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58585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5AE56E-9698-0D5B-FDEF-AC23847C1A4A}"/>
              </a:ext>
            </a:extLst>
          </p:cNvPr>
          <p:cNvSpPr>
            <a:spLocks noGrp="1"/>
          </p:cNvSpPr>
          <p:nvPr>
            <p:ph type="title"/>
          </p:nvPr>
        </p:nvSpPr>
        <p:spPr>
          <a:xfrm>
            <a:off x="648930" y="629266"/>
            <a:ext cx="6188190" cy="1622321"/>
          </a:xfrm>
        </p:spPr>
        <p:txBody>
          <a:bodyPr>
            <a:normAutofit/>
          </a:bodyPr>
          <a:lstStyle/>
          <a:p>
            <a:r>
              <a:rPr lang="en-US" b="1">
                <a:solidFill>
                  <a:srgbClr val="EBEBEB"/>
                </a:solidFill>
              </a:rPr>
              <a:t>Gambling</a:t>
            </a:r>
          </a:p>
        </p:txBody>
      </p:sp>
      <p:sp>
        <p:nvSpPr>
          <p:cNvPr id="3" name="Content Placeholder 2">
            <a:extLst>
              <a:ext uri="{FF2B5EF4-FFF2-40B4-BE49-F238E27FC236}">
                <a16:creationId xmlns:a16="http://schemas.microsoft.com/office/drawing/2014/main" id="{4999F489-7C86-6776-0504-E3D62CFC3703}"/>
              </a:ext>
            </a:extLst>
          </p:cNvPr>
          <p:cNvSpPr>
            <a:spLocks noGrp="1"/>
          </p:cNvSpPr>
          <p:nvPr>
            <p:ph idx="1"/>
          </p:nvPr>
        </p:nvSpPr>
        <p:spPr>
          <a:xfrm>
            <a:off x="648930" y="2438400"/>
            <a:ext cx="6188189" cy="3785419"/>
          </a:xfrm>
        </p:spPr>
        <p:txBody>
          <a:bodyPr>
            <a:normAutofit/>
          </a:bodyPr>
          <a:lstStyle/>
          <a:p>
            <a:pPr>
              <a:lnSpc>
                <a:spcPct val="90000"/>
              </a:lnSpc>
            </a:pPr>
            <a:r>
              <a:rPr lang="en-US" sz="1700">
                <a:solidFill>
                  <a:srgbClr val="FFFFFF"/>
                </a:solidFill>
                <a:latin typeface="Century Gothic" panose="020B0502020202020204" pitchFamily="34" charset="0"/>
                <a:cs typeface="Times New Roman" panose="02020603050405020304" pitchFamily="18" charset="0"/>
              </a:rPr>
              <a:t>Defn</a:t>
            </a:r>
            <a:r>
              <a:rPr lang="en-US" sz="1700">
                <a:solidFill>
                  <a:srgbClr val="FFFFFF"/>
                </a:solidFill>
              </a:rPr>
              <a:t>: </a:t>
            </a:r>
            <a:r>
              <a:rPr lang="en-US" sz="1700">
                <a:solidFill>
                  <a:srgbClr val="FFFFFF"/>
                </a:solidFill>
                <a:latin typeface="Century Gothic" panose="020B0502020202020204" pitchFamily="34" charset="0"/>
                <a:cs typeface="Times New Roman" panose="02020603050405020304" pitchFamily="18" charset="0"/>
              </a:rPr>
              <a:t>Gambling</a:t>
            </a:r>
            <a:r>
              <a:rPr lang="en-US" sz="1700">
                <a:solidFill>
                  <a:srgbClr val="FFFFFF"/>
                </a:solidFill>
              </a:rPr>
              <a:t>, </a:t>
            </a:r>
            <a:r>
              <a:rPr lang="en-US" sz="1700">
                <a:solidFill>
                  <a:srgbClr val="FFFFFF"/>
                </a:solidFill>
                <a:effectLst/>
                <a:latin typeface="Century Gothic" panose="020B0502020202020204" pitchFamily="34" charset="0"/>
                <a:ea typeface="Calibri" panose="020F0502020204030204" pitchFamily="34" charset="0"/>
                <a:cs typeface="Times New Roman" panose="02020603050405020304" pitchFamily="18" charset="0"/>
              </a:rPr>
              <a:t>according to the Concise English dictionary, “</a:t>
            </a:r>
            <a:r>
              <a:rPr lang="en-US" sz="1700" i="1">
                <a:solidFill>
                  <a:srgbClr val="FFFFFF"/>
                </a:solidFill>
                <a:effectLst/>
                <a:latin typeface="Century Gothic" panose="020B0502020202020204" pitchFamily="34" charset="0"/>
                <a:ea typeface="Calibri" panose="020F0502020204030204" pitchFamily="34" charset="0"/>
                <a:cs typeface="Times New Roman" panose="02020603050405020304" pitchFamily="18" charset="0"/>
              </a:rPr>
              <a:t>is playing games of chance for money</a:t>
            </a:r>
            <a:r>
              <a:rPr lang="en-US" sz="1700">
                <a:solidFill>
                  <a:srgbClr val="FFFFFF"/>
                </a:solidFill>
                <a:effectLst/>
                <a:latin typeface="Century Gothic" panose="020B0502020202020204" pitchFamily="34" charset="0"/>
                <a:ea typeface="Calibri" panose="020F0502020204030204" pitchFamily="34" charset="0"/>
                <a:cs typeface="Times New Roman" panose="02020603050405020304" pitchFamily="18" charset="0"/>
              </a:rPr>
              <a:t>.”</a:t>
            </a:r>
          </a:p>
          <a:p>
            <a:pPr>
              <a:lnSpc>
                <a:spcPct val="90000"/>
              </a:lnSpc>
            </a:pPr>
            <a:r>
              <a:rPr lang="en-US" sz="1700">
                <a:solidFill>
                  <a:srgbClr val="FFFFFF"/>
                </a:solidFill>
                <a:effectLst/>
                <a:latin typeface="Century Gothic" panose="020B0502020202020204" pitchFamily="34" charset="0"/>
                <a:ea typeface="Calibri" panose="020F0502020204030204" pitchFamily="34" charset="0"/>
                <a:cs typeface="Times New Roman" panose="02020603050405020304" pitchFamily="18" charset="0"/>
              </a:rPr>
              <a:t>In Kenya over the past few years, there has been an explosion of betting sites where people can go and bet, mostly on football matches played in different parts of the world, from Europe to Asia, in the hopes of winning some cash. </a:t>
            </a:r>
          </a:p>
          <a:p>
            <a:pPr>
              <a:lnSpc>
                <a:spcPct val="90000"/>
              </a:lnSpc>
            </a:pPr>
            <a:r>
              <a:rPr lang="en-US" sz="1700">
                <a:solidFill>
                  <a:srgbClr val="FFFFFF"/>
                </a:solidFill>
                <a:effectLst/>
                <a:latin typeface="Century Gothic" panose="020B0502020202020204" pitchFamily="34" charset="0"/>
                <a:ea typeface="Calibri" panose="020F0502020204030204" pitchFamily="34" charset="0"/>
                <a:cs typeface="Times New Roman" panose="02020603050405020304" pitchFamily="18" charset="0"/>
              </a:rPr>
              <a:t>the Betting Control and Licensing Board have licensed a number of companies here in Kenya for this in recent years to conduct this betting</a:t>
            </a:r>
            <a:endParaRPr lang="en-US" sz="1700">
              <a:solidFill>
                <a:srgbClr val="FFFFFF"/>
              </a:solidFill>
              <a:latin typeface="Century Gothic" panose="020B0502020202020204" pitchFamily="34" charset="0"/>
              <a:ea typeface="Calibri" panose="020F0502020204030204" pitchFamily="34" charset="0"/>
              <a:cs typeface="Times New Roman" panose="02020603050405020304" pitchFamily="18" charset="0"/>
            </a:endParaRPr>
          </a:p>
          <a:p>
            <a:pPr>
              <a:lnSpc>
                <a:spcPct val="90000"/>
              </a:lnSpc>
            </a:pPr>
            <a:r>
              <a:rPr lang="en-US" sz="1700">
                <a:solidFill>
                  <a:srgbClr val="FFFFFF"/>
                </a:solidFill>
                <a:effectLst/>
                <a:latin typeface="Century Gothic" panose="020B0502020202020204" pitchFamily="34" charset="0"/>
                <a:ea typeface="Calibri" panose="020F0502020204030204" pitchFamily="34" charset="0"/>
                <a:cs typeface="Times New Roman" panose="02020603050405020304" pitchFamily="18" charset="0"/>
              </a:rPr>
              <a:t>. Most come with easy payment methods such as mobile money, mobile banking and online payments</a:t>
            </a:r>
          </a:p>
          <a:p>
            <a:pPr>
              <a:lnSpc>
                <a:spcPct val="90000"/>
              </a:lnSpc>
            </a:pPr>
            <a:endParaRPr lang="en-US" sz="1700">
              <a:solidFill>
                <a:srgbClr val="FFFFFF"/>
              </a:solidFill>
            </a:endParaRP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Antique cash register keys">
            <a:extLst>
              <a:ext uri="{FF2B5EF4-FFF2-40B4-BE49-F238E27FC236}">
                <a16:creationId xmlns:a16="http://schemas.microsoft.com/office/drawing/2014/main" id="{0A16FD0D-1E84-318D-7DD4-05A0D597148F}"/>
              </a:ext>
            </a:extLst>
          </p:cNvPr>
          <p:cNvPicPr>
            <a:picLocks noChangeAspect="1"/>
          </p:cNvPicPr>
          <p:nvPr/>
        </p:nvPicPr>
        <p:blipFill rotWithShape="1">
          <a:blip r:embed="rId3"/>
          <a:srcRect l="24255" r="27618"/>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2128325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56C46D-54B8-24EE-0698-C27F33CDA823}"/>
              </a:ext>
            </a:extLst>
          </p:cNvPr>
          <p:cNvSpPr>
            <a:spLocks noGrp="1"/>
          </p:cNvSpPr>
          <p:nvPr>
            <p:ph type="title"/>
          </p:nvPr>
        </p:nvSpPr>
        <p:spPr>
          <a:xfrm>
            <a:off x="648930" y="629266"/>
            <a:ext cx="6188190" cy="1622321"/>
          </a:xfrm>
        </p:spPr>
        <p:txBody>
          <a:bodyPr>
            <a:normAutofit/>
          </a:bodyPr>
          <a:lstStyle/>
          <a:p>
            <a:r>
              <a:rPr lang="en-US" sz="3900" b="1">
                <a:solidFill>
                  <a:srgbClr val="EBEBEB"/>
                </a:solidFill>
                <a:effectLst/>
                <a:latin typeface="Century Gothic" panose="020B0502020202020204" pitchFamily="34" charset="0"/>
                <a:ea typeface="Calibri" panose="020F0502020204030204" pitchFamily="34" charset="0"/>
                <a:cs typeface="Times New Roman" panose="02020603050405020304" pitchFamily="18" charset="0"/>
              </a:rPr>
              <a:t>Why do people gamble?</a:t>
            </a:r>
            <a:br>
              <a:rPr lang="en-US" sz="3900">
                <a:solidFill>
                  <a:srgbClr val="EBEBEB"/>
                </a:solidFill>
                <a:effectLst/>
                <a:ea typeface="Calibri" panose="020F0502020204030204" pitchFamily="34" charset="0"/>
                <a:cs typeface="Times New Roman" panose="02020603050405020304" pitchFamily="18" charset="0"/>
              </a:rPr>
            </a:br>
            <a:endParaRPr lang="en-US" sz="3900">
              <a:solidFill>
                <a:srgbClr val="EBEBEB"/>
              </a:solidFill>
            </a:endParaRPr>
          </a:p>
        </p:txBody>
      </p:sp>
      <p:sp>
        <p:nvSpPr>
          <p:cNvPr id="3" name="Content Placeholder 2">
            <a:extLst>
              <a:ext uri="{FF2B5EF4-FFF2-40B4-BE49-F238E27FC236}">
                <a16:creationId xmlns:a16="http://schemas.microsoft.com/office/drawing/2014/main" id="{70011558-7179-2133-4C52-EF4DEFC3F663}"/>
              </a:ext>
            </a:extLst>
          </p:cNvPr>
          <p:cNvSpPr>
            <a:spLocks noGrp="1"/>
          </p:cNvSpPr>
          <p:nvPr>
            <p:ph idx="1"/>
          </p:nvPr>
        </p:nvSpPr>
        <p:spPr>
          <a:xfrm>
            <a:off x="648930" y="2438400"/>
            <a:ext cx="6188189" cy="3785419"/>
          </a:xfrm>
        </p:spPr>
        <p:txBody>
          <a:bodyPr>
            <a:normAutofit/>
          </a:bodyPr>
          <a:lstStyle/>
          <a:p>
            <a:r>
              <a:rPr lang="en-US">
                <a:solidFill>
                  <a:srgbClr val="FFFFFF"/>
                </a:solidFill>
              </a:rPr>
              <a:t>According to the UK Mental Health Foundation, people gamble because of a variety of reasons, most common being “</a:t>
            </a:r>
            <a:r>
              <a:rPr lang="en-US" i="1">
                <a:solidFill>
                  <a:srgbClr val="FFFFFF"/>
                </a:solidFill>
              </a:rPr>
              <a:t>the buzz, the competitive element, the thrill of risk taking, of placing large bets, to solve financial problems and as a way of escaping from stress or worries</a:t>
            </a:r>
            <a:r>
              <a:rPr lang="en-US">
                <a:solidFill>
                  <a:srgbClr val="FFFFFF"/>
                </a:solidFill>
              </a:rPr>
              <a:t>.” </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Large skydiving group mid-air">
            <a:extLst>
              <a:ext uri="{FF2B5EF4-FFF2-40B4-BE49-F238E27FC236}">
                <a16:creationId xmlns:a16="http://schemas.microsoft.com/office/drawing/2014/main" id="{16489267-0EF4-66CB-668F-FF06032EF530}"/>
              </a:ext>
            </a:extLst>
          </p:cNvPr>
          <p:cNvPicPr>
            <a:picLocks noChangeAspect="1"/>
          </p:cNvPicPr>
          <p:nvPr/>
        </p:nvPicPr>
        <p:blipFill rotWithShape="1">
          <a:blip r:embed="rId3"/>
          <a:srcRect l="26520" r="25353"/>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1957476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Title 1">
            <a:extLst>
              <a:ext uri="{FF2B5EF4-FFF2-40B4-BE49-F238E27FC236}">
                <a16:creationId xmlns:a16="http://schemas.microsoft.com/office/drawing/2014/main" id="{515FF732-453E-5513-E76F-79AB4AF10CE3}"/>
              </a:ext>
            </a:extLst>
          </p:cNvPr>
          <p:cNvSpPr>
            <a:spLocks noGrp="1"/>
          </p:cNvSpPr>
          <p:nvPr>
            <p:ph type="title"/>
          </p:nvPr>
        </p:nvSpPr>
        <p:spPr>
          <a:xfrm>
            <a:off x="806195" y="804672"/>
            <a:ext cx="3521359" cy="5248656"/>
          </a:xfrm>
        </p:spPr>
        <p:txBody>
          <a:bodyPr anchor="ctr">
            <a:normAutofit/>
          </a:bodyPr>
          <a:lstStyle/>
          <a:p>
            <a:pPr algn="ctr"/>
            <a:r>
              <a:rPr lang="en-US" b="1">
                <a:effectLst/>
                <a:latin typeface="Century Gothic" panose="020B0502020202020204" pitchFamily="34" charset="0"/>
                <a:ea typeface="Calibri" panose="020F0502020204030204" pitchFamily="34" charset="0"/>
                <a:cs typeface="Times New Roman" panose="02020603050405020304" pitchFamily="18" charset="0"/>
              </a:rPr>
              <a:t>How can one gamble responsibly?</a:t>
            </a:r>
            <a:br>
              <a:rPr lang="en-US" b="1">
                <a:cs typeface="Times New Roman" panose="02020603050405020304" pitchFamily="18" charset="0"/>
              </a:rPr>
            </a:br>
            <a:endParaRPr lang="en-US" b="1">
              <a:cs typeface="Times New Roman" panose="02020603050405020304" pitchFamily="18" charset="0"/>
            </a:endParaRPr>
          </a:p>
        </p:txBody>
      </p:sp>
      <p:sp>
        <p:nvSpPr>
          <p:cNvPr id="3" name="Content Placeholder 2">
            <a:extLst>
              <a:ext uri="{FF2B5EF4-FFF2-40B4-BE49-F238E27FC236}">
                <a16:creationId xmlns:a16="http://schemas.microsoft.com/office/drawing/2014/main" id="{AC751269-71D1-C91F-0C01-F11101FBC146}"/>
              </a:ext>
            </a:extLst>
          </p:cNvPr>
          <p:cNvSpPr>
            <a:spLocks noGrp="1"/>
          </p:cNvSpPr>
          <p:nvPr>
            <p:ph idx="1"/>
          </p:nvPr>
        </p:nvSpPr>
        <p:spPr>
          <a:xfrm>
            <a:off x="4975861" y="804671"/>
            <a:ext cx="6399930" cy="5248657"/>
          </a:xfrm>
        </p:spPr>
        <p:txBody>
          <a:bodyPr anchor="ctr">
            <a:normAutofit/>
          </a:bodyPr>
          <a:lstStyle/>
          <a:p>
            <a:r>
              <a:rPr lang="en-US">
                <a:effectLst/>
                <a:latin typeface="Century Gothic" panose="020B0502020202020204" pitchFamily="34" charset="0"/>
                <a:ea typeface="Calibri" panose="020F0502020204030204" pitchFamily="34" charset="0"/>
                <a:cs typeface="Times New Roman" panose="02020603050405020304" pitchFamily="18" charset="0"/>
              </a:rPr>
              <a:t>always bet what they can afford to lose</a:t>
            </a:r>
          </a:p>
          <a:p>
            <a:r>
              <a:rPr lang="en-US">
                <a:effectLst/>
                <a:latin typeface="Century Gothic" panose="020B0502020202020204" pitchFamily="34" charset="0"/>
                <a:ea typeface="Calibri" panose="020F0502020204030204" pitchFamily="34" charset="0"/>
                <a:cs typeface="Times New Roman" panose="02020603050405020304" pitchFamily="18" charset="0"/>
              </a:rPr>
              <a:t>people should always quit while they are still ahead, because, eventually, </a:t>
            </a:r>
            <a:r>
              <a:rPr lang="en-US" i="1">
                <a:effectLst/>
                <a:latin typeface="Century Gothic" panose="020B0502020202020204" pitchFamily="34" charset="0"/>
                <a:ea typeface="Calibri" panose="020F0502020204030204" pitchFamily="34" charset="0"/>
                <a:cs typeface="Times New Roman" panose="02020603050405020304" pitchFamily="18" charset="0"/>
              </a:rPr>
              <a:t>the house always wins.</a:t>
            </a:r>
          </a:p>
          <a:p>
            <a:r>
              <a:rPr lang="en-US">
                <a:effectLst/>
                <a:latin typeface="Century Gothic" panose="020B0502020202020204" pitchFamily="34" charset="0"/>
                <a:ea typeface="Calibri" panose="020F0502020204030204" pitchFamily="34" charset="0"/>
                <a:cs typeface="Times New Roman" panose="02020603050405020304" pitchFamily="18" charset="0"/>
              </a:rPr>
              <a:t>gamble for very few hours of the day, concentrating on more important matters such as family, work, job hunting or school.</a:t>
            </a:r>
            <a:endParaRPr lang="en-US">
              <a:effectLst/>
              <a:latin typeface="Calibri" panose="020F0502020204030204" pitchFamily="34" charset="0"/>
              <a:ea typeface="Calibri" panose="020F0502020204030204" pitchFamily="34" charset="0"/>
              <a:cs typeface="Times New Roman" panose="02020603050405020304" pitchFamily="18" charset="0"/>
            </a:endParaRPr>
          </a:p>
          <a:p>
            <a:r>
              <a:rPr lang="en-US">
                <a:effectLst/>
                <a:latin typeface="Century Gothic" panose="020B0502020202020204" pitchFamily="34" charset="0"/>
                <a:ea typeface="Calibri" panose="020F0502020204030204" pitchFamily="34" charset="0"/>
                <a:cs typeface="Times New Roman" panose="02020603050405020304" pitchFamily="18" charset="0"/>
              </a:rPr>
              <a:t>, if one is to bet, then some time spent researching on the teams is only sensible</a:t>
            </a:r>
            <a:endParaRPr lang="en-US" i="1">
              <a:ea typeface="Calibri" panose="020F0502020204030204" pitchFamily="34" charset="0"/>
              <a:cs typeface="Times New Roman" panose="02020603050405020304" pitchFamily="18" charset="0"/>
            </a:endParaRPr>
          </a:p>
          <a:p>
            <a:endParaRPr lang="en-US"/>
          </a:p>
        </p:txBody>
      </p:sp>
    </p:spTree>
    <p:extLst>
      <p:ext uri="{BB962C8B-B14F-4D97-AF65-F5344CB8AC3E}">
        <p14:creationId xmlns:p14="http://schemas.microsoft.com/office/powerpoint/2010/main" val="414691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7882B-B81C-C172-E759-A5819EC7491C}"/>
              </a:ext>
            </a:extLst>
          </p:cNvPr>
          <p:cNvSpPr>
            <a:spLocks noGrp="1"/>
          </p:cNvSpPr>
          <p:nvPr>
            <p:ph type="title"/>
          </p:nvPr>
        </p:nvSpPr>
        <p:spPr>
          <a:xfrm>
            <a:off x="646111" y="452718"/>
            <a:ext cx="9404723" cy="1400530"/>
          </a:xfrm>
        </p:spPr>
        <p:txBody>
          <a:bodyPr>
            <a:normAutofit/>
          </a:bodyPr>
          <a:lstStyle/>
          <a:p>
            <a:r>
              <a:rPr lang="en-US" b="1">
                <a:effectLst/>
                <a:latin typeface="Century Gothic" panose="020B0502020202020204" pitchFamily="34" charset="0"/>
                <a:ea typeface="Calibri" panose="020F0502020204030204" pitchFamily="34" charset="0"/>
                <a:cs typeface="Times New Roman" panose="02020603050405020304" pitchFamily="18" charset="0"/>
              </a:rPr>
              <a:t>How does one know that they have a betting problem?</a:t>
            </a:r>
            <a:endParaRPr lang="en-US"/>
          </a:p>
        </p:txBody>
      </p:sp>
      <p:graphicFrame>
        <p:nvGraphicFramePr>
          <p:cNvPr id="5" name="Content Placeholder 2">
            <a:extLst>
              <a:ext uri="{FF2B5EF4-FFF2-40B4-BE49-F238E27FC236}">
                <a16:creationId xmlns:a16="http://schemas.microsoft.com/office/drawing/2014/main" id="{3E7A4136-48D0-8245-0BF2-11D67D890840}"/>
              </a:ext>
            </a:extLst>
          </p:cNvPr>
          <p:cNvGraphicFramePr>
            <a:graphicFrameLocks noGrp="1"/>
          </p:cNvGraphicFramePr>
          <p:nvPr>
            <p:ph idx="1"/>
            <p:extLst>
              <p:ext uri="{D42A27DB-BD31-4B8C-83A1-F6EECF244321}">
                <p14:modId xmlns:p14="http://schemas.microsoft.com/office/powerpoint/2010/main" val="3208693283"/>
              </p:ext>
            </p:extLst>
          </p:nvPr>
        </p:nvGraphicFramePr>
        <p:xfrm>
          <a:off x="646111" y="2140085"/>
          <a:ext cx="9404352" cy="4056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0822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Online Media 7" title="The Gambler Official Trailer #1 (2014) - Mark Wahlberg, Jessica Lange Movie HD">
            <a:hlinkClick r:id="" action="ppaction://media"/>
            <a:extLst>
              <a:ext uri="{FF2B5EF4-FFF2-40B4-BE49-F238E27FC236}">
                <a16:creationId xmlns:a16="http://schemas.microsoft.com/office/drawing/2014/main" id="{4DFC88B2-98EC-749C-C4A5-BB0F58A28C79}"/>
              </a:ext>
            </a:extLst>
          </p:cNvPr>
          <p:cNvPicPr>
            <a:picLocks noRot="1" noChangeAspect="1"/>
          </p:cNvPicPr>
          <p:nvPr>
            <a:videoFile r:link="rId1"/>
          </p:nvPr>
        </p:nvPicPr>
        <p:blipFill>
          <a:blip r:embed="rId3"/>
          <a:stretch>
            <a:fillRect/>
          </a:stretch>
        </p:blipFill>
        <p:spPr>
          <a:xfrm>
            <a:off x="1959429" y="889669"/>
            <a:ext cx="9470570" cy="5350870"/>
          </a:xfrm>
          <a:prstGeom prst="rect">
            <a:avLst/>
          </a:prstGeom>
        </p:spPr>
      </p:pic>
      <p:sp>
        <p:nvSpPr>
          <p:cNvPr id="2" name="Title 1">
            <a:extLst>
              <a:ext uri="{FF2B5EF4-FFF2-40B4-BE49-F238E27FC236}">
                <a16:creationId xmlns:a16="http://schemas.microsoft.com/office/drawing/2014/main" id="{D19FC9FD-B9EC-789D-481F-1872D3E08F39}"/>
              </a:ext>
            </a:extLst>
          </p:cNvPr>
          <p:cNvSpPr>
            <a:spLocks noGrp="1"/>
          </p:cNvSpPr>
          <p:nvPr>
            <p:ph type="ctrTitle"/>
          </p:nvPr>
        </p:nvSpPr>
        <p:spPr>
          <a:xfrm>
            <a:off x="838199" y="1120676"/>
            <a:ext cx="5257801" cy="2308324"/>
          </a:xfrm>
        </p:spPr>
        <p:txBody>
          <a:bodyPr>
            <a:normAutofit fontScale="90000"/>
          </a:bodyPr>
          <a:lstStyle/>
          <a:p>
            <a:pPr algn="l"/>
            <a:r>
              <a:rPr lang="en-US" sz="5000">
                <a:solidFill>
                  <a:schemeClr val="bg1"/>
                </a:solidFill>
              </a:rPr>
              <a:t>The Gambler Trailer on Youtube</a:t>
            </a:r>
          </a:p>
        </p:txBody>
      </p:sp>
      <p:sp>
        <p:nvSpPr>
          <p:cNvPr id="11" name="Subtitle 10">
            <a:extLst>
              <a:ext uri="{FF2B5EF4-FFF2-40B4-BE49-F238E27FC236}">
                <a16:creationId xmlns:a16="http://schemas.microsoft.com/office/drawing/2014/main" id="{9519830B-F312-6E47-4B3B-C7C991B578E5}"/>
              </a:ext>
            </a:extLst>
          </p:cNvPr>
          <p:cNvSpPr>
            <a:spLocks noGrp="1"/>
          </p:cNvSpPr>
          <p:nvPr>
            <p:ph type="subTitle" idx="1"/>
          </p:nvPr>
        </p:nvSpPr>
        <p:spPr>
          <a:xfrm>
            <a:off x="277675" y="204650"/>
            <a:ext cx="7025753" cy="1012778"/>
          </a:xfrm>
        </p:spPr>
        <p:txBody>
          <a:bodyPr>
            <a:normAutofit/>
          </a:bodyPr>
          <a:lstStyle/>
          <a:p>
            <a:pPr algn="l"/>
            <a:r>
              <a:rPr lang="en-US">
                <a:solidFill>
                  <a:schemeClr val="tx1">
                    <a:lumMod val="95000"/>
                  </a:schemeClr>
                </a:solidFill>
              </a:rPr>
              <a:t>Gambling movie trailer</a:t>
            </a:r>
          </a:p>
        </p:txBody>
      </p:sp>
    </p:spTree>
    <p:extLst>
      <p:ext uri="{BB962C8B-B14F-4D97-AF65-F5344CB8AC3E}">
        <p14:creationId xmlns:p14="http://schemas.microsoft.com/office/powerpoint/2010/main" val="2667573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9801AA-8DFC-C8E5-9AC2-668E149F4497}"/>
              </a:ext>
            </a:extLst>
          </p:cNvPr>
          <p:cNvSpPr>
            <a:spLocks noGrp="1"/>
          </p:cNvSpPr>
          <p:nvPr>
            <p:ph type="title"/>
          </p:nvPr>
        </p:nvSpPr>
        <p:spPr>
          <a:xfrm>
            <a:off x="648930" y="629266"/>
            <a:ext cx="6188190" cy="1622321"/>
          </a:xfrm>
        </p:spPr>
        <p:txBody>
          <a:bodyPr>
            <a:normAutofit/>
          </a:bodyPr>
          <a:lstStyle/>
          <a:p>
            <a:pPr>
              <a:lnSpc>
                <a:spcPct val="90000"/>
              </a:lnSpc>
            </a:pPr>
            <a:r>
              <a:rPr lang="en-US" sz="3600" b="1">
                <a:solidFill>
                  <a:srgbClr val="EBEBEB"/>
                </a:solidFill>
                <a:effectLst/>
                <a:latin typeface="Century Gothic" panose="020B0502020202020204" pitchFamily="34" charset="0"/>
                <a:ea typeface="Calibri" panose="020F0502020204030204" pitchFamily="34" charset="0"/>
                <a:cs typeface="Times New Roman" panose="02020603050405020304" pitchFamily="18" charset="0"/>
              </a:rPr>
              <a:t>So, is gambling good financial management?</a:t>
            </a:r>
            <a:br>
              <a:rPr lang="en-US" sz="3600">
                <a:solidFill>
                  <a:srgbClr val="EBEBEB"/>
                </a:solidFill>
                <a:effectLst/>
                <a:latin typeface="Calibri" panose="020F0502020204030204" pitchFamily="34" charset="0"/>
                <a:ea typeface="Calibri" panose="020F0502020204030204" pitchFamily="34" charset="0"/>
                <a:cs typeface="Times New Roman" panose="02020603050405020304" pitchFamily="18" charset="0"/>
              </a:rPr>
            </a:br>
            <a:endParaRPr lang="en-US" sz="3600">
              <a:solidFill>
                <a:srgbClr val="EBEBEB"/>
              </a:solidFill>
            </a:endParaRPr>
          </a:p>
        </p:txBody>
      </p:sp>
      <p:sp>
        <p:nvSpPr>
          <p:cNvPr id="3" name="Content Placeholder 2">
            <a:extLst>
              <a:ext uri="{FF2B5EF4-FFF2-40B4-BE49-F238E27FC236}">
                <a16:creationId xmlns:a16="http://schemas.microsoft.com/office/drawing/2014/main" id="{24AC258D-9451-3910-5C40-FAEE5AE21A0E}"/>
              </a:ext>
            </a:extLst>
          </p:cNvPr>
          <p:cNvSpPr>
            <a:spLocks noGrp="1"/>
          </p:cNvSpPr>
          <p:nvPr>
            <p:ph idx="1"/>
          </p:nvPr>
        </p:nvSpPr>
        <p:spPr>
          <a:xfrm>
            <a:off x="648930" y="2438400"/>
            <a:ext cx="6188189" cy="3785419"/>
          </a:xfrm>
        </p:spPr>
        <p:txBody>
          <a:bodyPr>
            <a:normAutofit/>
          </a:bodyPr>
          <a:lstStyle/>
          <a:p>
            <a:r>
              <a:rPr lang="en-US">
                <a:solidFill>
                  <a:srgbClr val="FFFFFF"/>
                </a:solidFill>
              </a:rPr>
              <a:t>95% of the time, it is not.</a:t>
            </a:r>
          </a:p>
          <a:p>
            <a:endParaRPr lang="en-US">
              <a:solidFill>
                <a:srgbClr val="FFFFFF"/>
              </a:solidFill>
            </a:endParaRPr>
          </a:p>
          <a:p>
            <a:r>
              <a:rPr lang="en-US">
                <a:solidFill>
                  <a:srgbClr val="FFFFFF"/>
                </a:solidFill>
              </a:rPr>
              <a:t>Few people are professional gamblers, and those that do it, live very boring lives and bet small.</a:t>
            </a:r>
          </a:p>
          <a:p>
            <a:endParaRPr lang="en-US">
              <a:solidFill>
                <a:srgbClr val="FFFFFF"/>
              </a:solidFill>
            </a:endParaRPr>
          </a:p>
          <a:p>
            <a:r>
              <a:rPr lang="en-US">
                <a:solidFill>
                  <a:srgbClr val="FFFFFF"/>
                </a:solidFill>
              </a:rPr>
              <a:t>Once in a while, it can be fun. But, be very, very careful, and </a:t>
            </a:r>
            <a:r>
              <a:rPr lang="en-US" i="1">
                <a:solidFill>
                  <a:srgbClr val="FFFFFF"/>
                </a:solidFill>
              </a:rPr>
              <a:t>when the fun stops, stop</a:t>
            </a:r>
          </a:p>
          <a:p>
            <a:endParaRPr lang="en-US" i="1">
              <a:solidFill>
                <a:srgbClr val="FFFFFF"/>
              </a:solidFill>
            </a:endParaRP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A stack of dice on a boardgame">
            <a:extLst>
              <a:ext uri="{FF2B5EF4-FFF2-40B4-BE49-F238E27FC236}">
                <a16:creationId xmlns:a16="http://schemas.microsoft.com/office/drawing/2014/main" id="{83608DE9-B4EC-5C6A-9F55-98AD3D5B4E71}"/>
              </a:ext>
            </a:extLst>
          </p:cNvPr>
          <p:cNvPicPr>
            <a:picLocks noChangeAspect="1"/>
          </p:cNvPicPr>
          <p:nvPr/>
        </p:nvPicPr>
        <p:blipFill rotWithShape="1">
          <a:blip r:embed="rId3"/>
          <a:srcRect l="7959" r="19669"/>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2592056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Title 1">
            <a:extLst>
              <a:ext uri="{FF2B5EF4-FFF2-40B4-BE49-F238E27FC236}">
                <a16:creationId xmlns:a16="http://schemas.microsoft.com/office/drawing/2014/main" id="{88A9306D-36C8-FF5A-3BCE-90C62DB3E7A9}"/>
              </a:ext>
            </a:extLst>
          </p:cNvPr>
          <p:cNvSpPr>
            <a:spLocks noGrp="1"/>
          </p:cNvSpPr>
          <p:nvPr>
            <p:ph type="title"/>
          </p:nvPr>
        </p:nvSpPr>
        <p:spPr>
          <a:xfrm>
            <a:off x="806195" y="804672"/>
            <a:ext cx="3521359" cy="5248656"/>
          </a:xfrm>
        </p:spPr>
        <p:txBody>
          <a:bodyPr anchor="ctr">
            <a:normAutofit/>
          </a:bodyPr>
          <a:lstStyle/>
          <a:p>
            <a:pPr algn="ctr"/>
            <a:r>
              <a:rPr lang="en-US"/>
              <a:t>Links to Gambling addiction help sites</a:t>
            </a:r>
          </a:p>
        </p:txBody>
      </p:sp>
      <p:sp>
        <p:nvSpPr>
          <p:cNvPr id="3" name="Content Placeholder 2">
            <a:extLst>
              <a:ext uri="{FF2B5EF4-FFF2-40B4-BE49-F238E27FC236}">
                <a16:creationId xmlns:a16="http://schemas.microsoft.com/office/drawing/2014/main" id="{21466829-C7E6-538A-FA47-3E32915A946D}"/>
              </a:ext>
            </a:extLst>
          </p:cNvPr>
          <p:cNvSpPr>
            <a:spLocks noGrp="1"/>
          </p:cNvSpPr>
          <p:nvPr>
            <p:ph idx="1"/>
          </p:nvPr>
        </p:nvSpPr>
        <p:spPr>
          <a:xfrm>
            <a:off x="4975861" y="804671"/>
            <a:ext cx="6399930" cy="5248657"/>
          </a:xfrm>
        </p:spPr>
        <p:txBody>
          <a:bodyPr anchor="ctr">
            <a:normAutofit/>
          </a:bodyPr>
          <a:lstStyle/>
          <a:p>
            <a:r>
              <a:rPr lang="en-US">
                <a:hlinkClick r:id="rId4"/>
              </a:rPr>
              <a:t>https://gamhelpkenya.com/</a:t>
            </a:r>
            <a:endParaRPr lang="en-US"/>
          </a:p>
          <a:p>
            <a:r>
              <a:rPr lang="en-US">
                <a:hlinkClick r:id="rId5"/>
              </a:rPr>
              <a:t>https://sharewithacounsellor.com/gambling-addiction-counselling-in-kenya.html</a:t>
            </a:r>
            <a:endParaRPr lang="en-US"/>
          </a:p>
        </p:txBody>
      </p:sp>
    </p:spTree>
    <p:extLst>
      <p:ext uri="{BB962C8B-B14F-4D97-AF65-F5344CB8AC3E}">
        <p14:creationId xmlns:p14="http://schemas.microsoft.com/office/powerpoint/2010/main" val="2100575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9" name="Picture 8">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1" name="Oval 10">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3" name="Picture 12">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5" name="Picture 14">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7" name="Rectangle 16">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19" name="Rectangle 18">
            <a:extLst>
              <a:ext uri="{FF2B5EF4-FFF2-40B4-BE49-F238E27FC236}">
                <a16:creationId xmlns:a16="http://schemas.microsoft.com/office/drawing/2014/main" id="{859FEF9A-9073-4D0C-AE3F-4B05B7C78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5">
            <a:extLst>
              <a:ext uri="{FF2B5EF4-FFF2-40B4-BE49-F238E27FC236}">
                <a16:creationId xmlns:a16="http://schemas.microsoft.com/office/drawing/2014/main" id="{9A868E46-760C-4803-96E3-94D7FF55D3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cxnSp>
        <p:nvCxnSpPr>
          <p:cNvPr id="23" name="Straight Connector 22">
            <a:extLst>
              <a:ext uri="{FF2B5EF4-FFF2-40B4-BE49-F238E27FC236}">
                <a16:creationId xmlns:a16="http://schemas.microsoft.com/office/drawing/2014/main" id="{C632DB3C-29C8-435B-832E-2A00033193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61021" y="1828800"/>
            <a:ext cx="0" cy="3200400"/>
          </a:xfrm>
          <a:prstGeom prst="line">
            <a:avLst/>
          </a:prstGeom>
          <a:ln w="19050" cap="sq">
            <a:solidFill>
              <a:schemeClr val="bg2">
                <a:lumMod val="60000"/>
                <a:lumOff val="40000"/>
              </a:schemeClr>
            </a:solidFill>
            <a:miter lim="800000"/>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291E7742-DBA5-D228-68E5-6CB07444CF56}"/>
              </a:ext>
            </a:extLst>
          </p:cNvPr>
          <p:cNvSpPr/>
          <p:nvPr/>
        </p:nvSpPr>
        <p:spPr>
          <a:xfrm>
            <a:off x="4652707" y="1333500"/>
            <a:ext cx="6240580" cy="41910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600" b="0" i="0" kern="1200" cap="none" spc="0" dirty="0">
                <a:ln w="12700">
                  <a:solidFill>
                    <a:schemeClr val="accent1"/>
                  </a:solidFill>
                  <a:prstDash val="solid"/>
                </a:ln>
                <a:solidFill>
                  <a:schemeClr val="tx2"/>
                </a:solidFill>
                <a:effectLst>
                  <a:outerShdw dist="38100" dir="2640000" algn="bl" rotWithShape="0">
                    <a:schemeClr val="accent1"/>
                  </a:outerShdw>
                </a:effectLst>
                <a:latin typeface="+mj-lt"/>
                <a:ea typeface="+mj-ea"/>
                <a:cs typeface="+mj-cs"/>
              </a:rPr>
              <a:t>Thanks for watching,</a:t>
            </a:r>
          </a:p>
          <a:p>
            <a:pPr>
              <a:lnSpc>
                <a:spcPct val="90000"/>
              </a:lnSpc>
              <a:spcBef>
                <a:spcPct val="0"/>
              </a:spcBef>
              <a:spcAft>
                <a:spcPts val="600"/>
              </a:spcAft>
            </a:pPr>
            <a:r>
              <a:rPr lang="en-US" sz="5600" b="0" i="0" kern="1200" cap="none" spc="0" dirty="0">
                <a:ln w="12700">
                  <a:solidFill>
                    <a:schemeClr val="accent1"/>
                  </a:solidFill>
                  <a:prstDash val="solid"/>
                </a:ln>
                <a:solidFill>
                  <a:schemeClr val="tx2"/>
                </a:solidFill>
                <a:effectLst>
                  <a:outerShdw dist="38100" dir="2640000" algn="bl" rotWithShape="0">
                    <a:schemeClr val="accent1"/>
                  </a:outerShdw>
                </a:effectLst>
                <a:latin typeface="+mj-lt"/>
                <a:ea typeface="+mj-ea"/>
                <a:cs typeface="+mj-cs"/>
              </a:rPr>
              <a:t> give me a good mark in the exam please!!</a:t>
            </a:r>
          </a:p>
        </p:txBody>
      </p:sp>
    </p:spTree>
    <p:extLst>
      <p:ext uri="{BB962C8B-B14F-4D97-AF65-F5344CB8AC3E}">
        <p14:creationId xmlns:p14="http://schemas.microsoft.com/office/powerpoint/2010/main" val="11840424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21</TotalTime>
  <Words>424</Words>
  <Application>Microsoft Office PowerPoint</Application>
  <PresentationFormat>Widescreen</PresentationFormat>
  <Paragraphs>33</Paragraphs>
  <Slides>9</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Century Gothic</vt:lpstr>
      <vt:lpstr>Wingdings 3</vt:lpstr>
      <vt:lpstr>Ion</vt:lpstr>
      <vt:lpstr>Gambling</vt:lpstr>
      <vt:lpstr>Gambling</vt:lpstr>
      <vt:lpstr>Why do people gamble? </vt:lpstr>
      <vt:lpstr>How can one gamble responsibly? </vt:lpstr>
      <vt:lpstr>How does one know that they have a betting problem?</vt:lpstr>
      <vt:lpstr>The Gambler Trailer on Youtube</vt:lpstr>
      <vt:lpstr>So, is gambling good financial management? </vt:lpstr>
      <vt:lpstr>Links to Gambling addiction help sites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Gambling</dc:title>
  <dc:creator>ADMIN</dc:creator>
  <cp:lastModifiedBy>ADMIN</cp:lastModifiedBy>
  <cp:revision>1</cp:revision>
  <dcterms:created xsi:type="dcterms:W3CDTF">2023-05-19T10:52:31Z</dcterms:created>
  <dcterms:modified xsi:type="dcterms:W3CDTF">2023-05-19T11:14:05Z</dcterms:modified>
</cp:coreProperties>
</file>